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063281"/>
            <a:ext cx="9926835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727918"/>
            <a:ext cx="10423177" cy="226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0" i="0" u="none">
                <a:solidFill>
                  <a:srgbClr val="F0F6FC"/>
                </a:solidFill>
                <a:latin typeface="Urbanist SemiBold"/>
              </a:rPr>
              <a:t>Netgrade </a:t>
            </a:r>
            <a:r>
              <a:t>
</a:t>
            </a:r>
            <a:r>
              <a:rPr sz="5400" b="0" i="0" u="none">
                <a:solidFill>
                  <a:srgbClr val="58A6FF"/>
                </a:solidFill>
                <a:latin typeface="Urbanist SemiBold"/>
              </a:rPr>
              <a:t>Passive Security Posture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219301"/>
            <a:ext cx="9926835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8B949E"/>
                </a:solidFill>
                <a:latin typeface="Urbanist Medium"/>
              </a:rPr>
              <a:t>Turning complex, scary security jargon into plain-language actionable decisions for small business owners.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453681"/>
            <a:ext cx="7458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8A6FF"/>
                </a:solidFill>
                <a:latin typeface="Urbanist SemiBold"/>
              </a:rPr>
              <a:t>BLUEPRINT HACKATHON 2026 SUBMISSION • JAYDEN MAANS &amp; MIKE / CERTIFA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5291881"/>
            <a:ext cx="927913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9D1D9"/>
                </a:solidFill>
                <a:latin typeface="Urbanist"/>
              </a:rPr>
              <a:t>Key Takeaway:</a:t>
            </a:r>
            <a:r>
              <a:rPr sz="1500" b="0" i="0" u="none">
                <a:solidFill>
                  <a:srgbClr val="C9D1D9"/>
                </a:solidFill>
                <a:latin typeface="Urbanist"/>
              </a:rPr>
              <a:t> 70% of small businesses lack dedicated IT/security personnel. Netgrade delivers a 30-second passive posture check, audio briefing, and prioritized remediations with </a:t>
            </a:r>
            <a:r>
              <a:rPr sz="1500" b="0" i="0" u="none">
                <a:solidFill>
                  <a:srgbClr val="3FB950"/>
                </a:solidFill>
                <a:latin typeface="Urbanist"/>
              </a:rPr>
              <a:t>zero risk</a:t>
            </a:r>
            <a:r>
              <a:rPr sz="1500" b="0" i="0" u="none">
                <a:solidFill>
                  <a:srgbClr val="C9D1D9"/>
                </a:solidFill>
                <a:latin typeface="Urbanist"/>
              </a:rPr>
              <a:t> to target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52600"/>
            <a:ext cx="5229225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50" y="1790700"/>
            <a:ext cx="48006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9D1D9"/>
                </a:solidFill>
                <a:latin typeface="Urbanist"/>
              </a:rPr>
              <a:t>Intrusive &amp; Illegal Tools:</a:t>
            </a:r>
            <a:r>
              <a:rPr sz="1500" b="0" i="0" u="none">
                <a:solidFill>
                  <a:srgbClr val="C9D1D9"/>
                </a:solidFill>
                <a:latin typeface="Urbanist"/>
              </a:rPr>
              <a:t> Existing scanners (Nmap, Nessus) act like "military weapons"—they are intrusive, terrifying, and illegal to run against third-party hosts without prior authorization.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3295650"/>
            <a:ext cx="48006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9D1D9"/>
                </a:solidFill>
                <a:latin typeface="Urbanist"/>
              </a:rPr>
              <a:t>Jargon-Heavy Reports:</a:t>
            </a:r>
            <a:r>
              <a:rPr sz="1500" b="0" i="0" u="none">
                <a:solidFill>
                  <a:srgbClr val="C9D1D9"/>
                </a:solidFill>
                <a:latin typeface="Urbanist"/>
              </a:rPr>
              <a:t> Web tools return raw CVE scores or 40-page PDFs filled with cryptographic acronyms (HSTS, CSP, DMARC p=quarantine, DNSSEC) that non-technical owners abandon.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48006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9D1D9"/>
                </a:solidFill>
                <a:latin typeface="Urbanist"/>
              </a:rPr>
              <a:t>Lack of Benchmarking:</a:t>
            </a:r>
            <a:r>
              <a:rPr sz="1500" b="0" i="0" u="none">
                <a:solidFill>
                  <a:srgbClr val="C9D1D9"/>
                </a:solidFill>
                <a:latin typeface="Urbanist"/>
              </a:rPr>
              <a:t> Small businesses don't know where to start or how to benchmark their security posture against competitors in their local industry.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762125"/>
            <a:ext cx="5210175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0F6FC"/>
                </a:solidFill>
                <a:latin typeface="Urbanist SemiBold"/>
              </a:rPr>
              <a:t>The Small Business </a:t>
            </a:r>
            <a:r>
              <a:rPr sz="3600" b="0" i="0" u="none">
                <a:solidFill>
                  <a:srgbClr val="58A6FF"/>
                </a:solidFill>
                <a:latin typeface="Urbanist SemiBold"/>
              </a:rPr>
              <a:t>Security Gap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828800"/>
            <a:ext cx="1238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333750"/>
            <a:ext cx="1238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838700"/>
            <a:ext cx="1238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96504"/>
            <a:ext cx="2543175" cy="41984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796504"/>
            <a:ext cx="2543175" cy="41984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796504"/>
            <a:ext cx="2543175" cy="41984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800" y="1796504"/>
            <a:ext cx="2543175" cy="419844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2139404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3925" y="2939504"/>
            <a:ext cx="195024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Zero-Impact Passive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006304"/>
            <a:ext cx="1857375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Runs 7 non-intrusive DNS, TLS, and HTTP checks identical to SSL Labs. Completely safe to run against any public domain.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850" y="2139404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52850" y="2939504"/>
            <a:ext cx="1950243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Plain-Language Remediation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2850" y="3701504"/>
            <a:ext cx="1857375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Every finding explains </a:t>
            </a:r>
            <a:r>
              <a:rPr sz="1350" b="0" i="1" u="none">
                <a:solidFill>
                  <a:srgbClr val="8B949E"/>
                </a:solidFill>
                <a:latin typeface="Urbanist"/>
              </a:rPr>
              <a:t>What</a:t>
            </a:r>
            <a:r>
              <a:rPr sz="1350" b="0" i="0" u="none">
                <a:solidFill>
                  <a:srgbClr val="8B949E"/>
                </a:solidFill>
                <a:latin typeface="Urbanist"/>
              </a:rPr>
              <a:t> it inspects, </a:t>
            </a:r>
            <a:r>
              <a:rPr sz="1350" b="0" i="1" u="none">
                <a:solidFill>
                  <a:srgbClr val="8B949E"/>
                </a:solidFill>
                <a:latin typeface="Urbanist"/>
              </a:rPr>
              <a:t>Why</a:t>
            </a:r>
            <a:r>
              <a:rPr sz="1350" b="0" i="0" u="none">
                <a:solidFill>
                  <a:srgbClr val="8B949E"/>
                </a:solidFill>
                <a:latin typeface="Urbanist"/>
              </a:rPr>
              <a:t> a business owner cares, and providing a step-by-step fix in plain English.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139404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1775" y="2939504"/>
            <a:ext cx="1950243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Spoken AI Audio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701504"/>
            <a:ext cx="1857375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Integrated ElevenLabs voice synthesis generates a 30-second audio summary highlighting the top 3 priority risks instantly.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0700" y="2139404"/>
            <a:ext cx="571500" cy="571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10700" y="2939504"/>
            <a:ext cx="1950243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Competitor 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0700" y="3701504"/>
            <a:ext cx="1857375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Side-by-side posture comparison allowing businesses to audit their security relative to peers in their industry.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325" y="2291804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1912" y="2291804"/>
            <a:ext cx="33337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0837" y="2291804"/>
            <a:ext cx="333375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3100" y="2291804"/>
            <a:ext cx="266700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0F6FC"/>
                </a:solidFill>
                <a:latin typeface="Urbanist SemiBold"/>
              </a:rPr>
              <a:t>The </a:t>
            </a:r>
            <a:r>
              <a:rPr sz="3600" b="0" i="0" u="none">
                <a:solidFill>
                  <a:srgbClr val="3FB950"/>
                </a:solidFill>
                <a:latin typeface="Urbanist SemiBold"/>
              </a:rPr>
              <a:t>Netgrade</a:t>
            </a:r>
            <a:r>
              <a:rPr sz="3600" b="0" i="0" u="none">
                <a:solidFill>
                  <a:srgbClr val="F0F6FC"/>
                </a:solidFill>
                <a:latin typeface="Urbanist SemiBold"/>
              </a:rPr>
              <a:t>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14475"/>
            <a:ext cx="5229225" cy="54289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514475"/>
            <a:ext cx="5229225" cy="5428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05000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58A6FF"/>
                </a:solidFill>
                <a:latin typeface="Urbanist SemiBold"/>
              </a:rPr>
              <a:t>1. Request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2371725"/>
            <a:ext cx="4448175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72275" y="1905000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58A6FF"/>
                </a:solidFill>
                <a:latin typeface="Urbanist SemiBold"/>
              </a:rPr>
              <a:t>2. Passive Engine Pool </a:t>
            </a:r>
            <a:r>
              <a:rPr sz="2100" b="0" i="0" u="none">
                <a:solidFill>
                  <a:srgbClr val="8B949E"/>
                </a:solidFill>
                <a:latin typeface="Urbanist"/>
              </a:rPr>
              <a:t>(Bounded Semaphore)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72275" y="2371725"/>
            <a:ext cx="4448175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52550" y="2619375"/>
            <a:ext cx="40671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9D1D9"/>
                </a:solidFill>
                <a:latin typeface="Urbanist"/>
              </a:rPr>
              <a:t>Web Client:</a:t>
            </a:r>
            <a:r>
              <a:rPr sz="1350" b="0" i="0" u="none">
                <a:solidFill>
                  <a:srgbClr val="C9D1D9"/>
                </a:solidFill>
                <a:latin typeface="Urbanist"/>
              </a:rPr>
              <a:t> Triggers GET /scan?domain=example.com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50" y="3406080"/>
            <a:ext cx="40671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9D1D9"/>
                </a:solidFill>
                <a:latin typeface="Urbanist"/>
              </a:rPr>
              <a:t>FastAPI Web Server:</a:t>
            </a:r>
            <a:r>
              <a:rPr sz="1350" b="0" i="0" u="none">
                <a:solidFill>
                  <a:srgbClr val="C9D1D9"/>
                </a:solidFill>
                <a:latin typeface="Urbanist"/>
              </a:rPr>
              <a:t> Receives request and initiates Async Fan-out.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550" y="4192785"/>
            <a:ext cx="40671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9D1D9"/>
                </a:solidFill>
                <a:latin typeface="Urbanist"/>
              </a:rPr>
              <a:t>Scanner Orchestrator:</a:t>
            </a:r>
            <a:r>
              <a:rPr sz="1350" b="0" i="0" u="none">
                <a:solidFill>
                  <a:srgbClr val="C9D1D9"/>
                </a:solidFill>
                <a:latin typeface="Urbanist"/>
              </a:rPr>
              <a:t> Dispatches checks to the engine pool.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4979491"/>
            <a:ext cx="40671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9D1D9"/>
                </a:solidFill>
                <a:latin typeface="Urbanist"/>
              </a:rPr>
              <a:t>Scoring Engine:</a:t>
            </a:r>
            <a:r>
              <a:rPr sz="1350" b="0" i="0" u="none">
                <a:solidFill>
                  <a:srgbClr val="C9D1D9"/>
                </a:solidFill>
                <a:latin typeface="Urbanist"/>
              </a:rPr>
              <a:t> Aggregates CheckResults into a 0-100 Weighted Score &amp; A-F Grade.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50" y="5766196"/>
            <a:ext cx="40671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9D1D9"/>
                </a:solidFill>
                <a:latin typeface="Urbanist"/>
              </a:rPr>
              <a:t>Delivery:</a:t>
            </a:r>
            <a:r>
              <a:rPr sz="1350" b="0" i="0" u="none">
                <a:solidFill>
                  <a:srgbClr val="C9D1D9"/>
                </a:solidFill>
                <a:latin typeface="Urbanist"/>
              </a:rPr>
              <a:t> Routes to ElevenLabs Audio Cache and Accessible HTML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2619375"/>
            <a:ext cx="40195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9D1D9"/>
                </a:solidFill>
                <a:latin typeface="Urbanist"/>
              </a:rPr>
              <a:t>Email Spoofing - SPF/DMARC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3084165"/>
            <a:ext cx="40195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9D1D9"/>
                </a:solidFill>
                <a:latin typeface="Urbanist"/>
              </a:rPr>
              <a:t>TLS/SSL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900" y="3548955"/>
            <a:ext cx="40195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9D1D9"/>
                </a:solidFill>
                <a:latin typeface="Urbanist"/>
              </a:rPr>
              <a:t>Security Headers - HSTS/CSP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900" y="4013745"/>
            <a:ext cx="40195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9D1D9"/>
                </a:solidFill>
                <a:latin typeface="Urbanist"/>
              </a:rPr>
              <a:t>Cookie Flags - Secure/HttpOnly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900" y="4478535"/>
            <a:ext cx="40195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9D1D9"/>
                </a:solidFill>
                <a:latin typeface="Urbanist"/>
              </a:rPr>
              <a:t>Exposed Artefacts - .git/.env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900" y="4943326"/>
            <a:ext cx="40195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9D1D9"/>
                </a:solidFill>
                <a:latin typeface="Urbanist"/>
              </a:rPr>
              <a:t>DNS Hygiene &amp; NS Spread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900" y="5408116"/>
            <a:ext cx="40195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9D1D9"/>
                </a:solidFill>
                <a:latin typeface="Urbanist"/>
              </a:rPr>
              <a:t>Cert Transparency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0F6FC"/>
                </a:solidFill>
                <a:latin typeface="Urbanist SemiBold"/>
              </a:rPr>
              <a:t>System </a:t>
            </a:r>
            <a:r>
              <a:rPr sz="3600" b="0" i="0" u="none">
                <a:solidFill>
                  <a:srgbClr val="58A6FF"/>
                </a:solidFill>
                <a:latin typeface="Urbanist SemiBold"/>
              </a:rPr>
              <a:t>Architecture</a:t>
            </a:r>
            <a:r>
              <a:rPr sz="3600" b="0" i="0" u="none">
                <a:solidFill>
                  <a:srgbClr val="F0F6FC"/>
                </a:solidFill>
                <a:latin typeface="Urbanist SemiBold"/>
              </a:rPr>
              <a:t> &amp; Data Flow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638425"/>
            <a:ext cx="15240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3425130"/>
            <a:ext cx="1524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211835"/>
            <a:ext cx="1524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998541"/>
            <a:ext cx="1524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5785246"/>
            <a:ext cx="15240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72275" y="2619375"/>
            <a:ext cx="1323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0F6FC"/>
                </a:solidFill>
                <a:latin typeface="Urbanist SemiBold"/>
              </a:rPr>
              <a:t>counter(arch-counter)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2275" y="3084165"/>
            <a:ext cx="1323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0F6FC"/>
                </a:solidFill>
                <a:latin typeface="Urbanist SemiBold"/>
              </a:rPr>
              <a:t>counter(arch-counter)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275" y="3548955"/>
            <a:ext cx="1323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0F6FC"/>
                </a:solidFill>
                <a:latin typeface="Urbanist SemiBold"/>
              </a:rPr>
              <a:t>counter(arch-counter)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2275" y="4013745"/>
            <a:ext cx="1323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0F6FC"/>
                </a:solidFill>
                <a:latin typeface="Urbanist SemiBold"/>
              </a:rPr>
              <a:t>counter(arch-counter)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275" y="4478535"/>
            <a:ext cx="1323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0F6FC"/>
                </a:solidFill>
                <a:latin typeface="Urbanist SemiBold"/>
              </a:rPr>
              <a:t>counter(arch-counter)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2275" y="4943326"/>
            <a:ext cx="1323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0F6FC"/>
                </a:solidFill>
                <a:latin typeface="Urbanist SemiBold"/>
              </a:rPr>
              <a:t>counter(arch-counter)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2275" y="5408116"/>
            <a:ext cx="1323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0F6FC"/>
                </a:solidFill>
                <a:latin typeface="Urbanist SemiBold"/>
              </a:rPr>
              <a:t>counter(arch-counter)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14475"/>
            <a:ext cx="5372100" cy="27659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514475"/>
            <a:ext cx="5372100" cy="27659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566195"/>
            <a:ext cx="5372100" cy="27659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566195"/>
            <a:ext cx="5372100" cy="276597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1857375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3925" y="2657475"/>
            <a:ext cx="492061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Errors Are Excluded, Not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114675"/>
            <a:ext cx="46863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A DNS blip or third-party outage does not cost a domain an F grade. Missing checks marked as error are omitted from scoring, with grade caps applied below 4 valid checks.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1857375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1775" y="2657475"/>
            <a:ext cx="492061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Process-Wide Outbound Semaphore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114675"/>
            <a:ext cx="46863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Socket usage is bounded at 24 concurrent sockets globally across all users, preventing connection exhaustion during high-concurrency bursts.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4909095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3925" y="5709195"/>
            <a:ext cx="492061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Async Fan-Out &amp; Cancellation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6166395"/>
            <a:ext cx="4686300" cy="691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asyncio.wait preserves finished checks even if one slow upstream check hits the 20-second scan deadline. Unfinished tasks are cleanly cancelled.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4909095"/>
            <a:ext cx="571500" cy="571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5709195"/>
            <a:ext cx="492061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Frozen Schema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6166395"/>
            <a:ext cx="4686300" cy="691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A decoupled ScanResult Pydantic model separates engine logic from presentation layers, ensuring rock-solid data integrity across the application.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325" y="2009775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800" y="2009775"/>
            <a:ext cx="17145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612" y="5061495"/>
            <a:ext cx="238125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7512" y="5061495"/>
            <a:ext cx="200025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58A6FF"/>
                </a:solidFill>
                <a:latin typeface="Urbanist SemiBold"/>
              </a:rPr>
              <a:t>Engineering Depth</a:t>
            </a:r>
            <a:r>
              <a:rPr sz="3600" b="0" i="0" u="none">
                <a:solidFill>
                  <a:srgbClr val="F0F6FC"/>
                </a:solidFill>
                <a:latin typeface="Urbanist SemiBold"/>
              </a:rPr>
              <a:t> &amp; Key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71650"/>
            <a:ext cx="5229225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50" y="1514475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9D1D9"/>
                </a:solidFill>
                <a:latin typeface="Urbanist"/>
              </a:rPr>
              <a:t>High-Contrast Design:</a:t>
            </a:r>
            <a:r>
              <a:rPr sz="1500" b="0" i="0" u="none">
                <a:solidFill>
                  <a:srgbClr val="C9D1D9"/>
                </a:solidFill>
                <a:latin typeface="Urbanist"/>
              </a:rPr>
              <a:t> Custom HSL dark-mode palette exceeding WCAG 2.1 AA contrast ratios (4.5:1 text, 3:1 UI components) for maximum readability.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2714625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9D1D9"/>
                </a:solidFill>
                <a:latin typeface="Urbanist"/>
              </a:rPr>
              <a:t>Keyboard Navigation:</a:t>
            </a:r>
            <a:r>
              <a:rPr sz="1500" b="0" i="0" u="none">
                <a:solidFill>
                  <a:srgbClr val="C9D1D9"/>
                </a:solidFill>
                <a:latin typeface="Urbanist"/>
              </a:rPr>
              <a:t> Full support via focus rings (--focus-ring), skip-to-content links, logical tabindex sequences, and proper ARIA attributes.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3914775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9D1D9"/>
                </a:solidFill>
                <a:latin typeface="Urbanist"/>
              </a:rPr>
              <a:t>Dynamic Feedback:</a:t>
            </a:r>
            <a:r>
              <a:rPr sz="1500" b="0" i="0" u="none">
                <a:solidFill>
                  <a:srgbClr val="C9D1D9"/>
                </a:solidFill>
                <a:latin typeface="Urbanist"/>
              </a:rPr>
              <a:t> Button loading indicators with spinning CSS icons and live progress overlays cycling through inspection steps to keep users informed.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5114925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9D1D9"/>
                </a:solidFill>
                <a:latin typeface="Urbanist"/>
              </a:rPr>
              <a:t>Mobile Responsive:</a:t>
            </a:r>
            <a:r>
              <a:rPr sz="1500" b="0" i="0" u="none">
                <a:solidFill>
                  <a:srgbClr val="C9D1D9"/>
                </a:solidFill>
                <a:latin typeface="Urbanist"/>
              </a:rPr>
              <a:t> Flexbox and CSS Grid layout adapting smoothly from 320px mobile screens all the way up to 4K desktop displays.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781175"/>
            <a:ext cx="5210175" cy="426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0F6FC"/>
                </a:solidFill>
                <a:latin typeface="Urbanist SemiBold"/>
              </a:rPr>
              <a:t>User Experience &amp; </a:t>
            </a:r>
            <a:r>
              <a:rPr sz="3600" b="0" i="0" u="none">
                <a:solidFill>
                  <a:srgbClr val="3FB950"/>
                </a:solidFill>
                <a:latin typeface="Urbanist SemiBold"/>
              </a:rPr>
              <a:t>Accessibility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552575"/>
            <a:ext cx="1238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752725"/>
            <a:ext cx="1238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52875"/>
            <a:ext cx="1238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153025"/>
            <a:ext cx="1238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23194"/>
            <a:ext cx="3486150" cy="3345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223194"/>
            <a:ext cx="3486150" cy="33450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223194"/>
            <a:ext cx="3486150" cy="33450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566094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3366194"/>
            <a:ext cx="294036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Dockerized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23394"/>
            <a:ext cx="28003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Clean Dockerfile multi-stage setup and docker-compose.yml configuration for instant, reliable 1-command runs in any environment.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2566094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5825" y="3366194"/>
            <a:ext cx="294036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Comprehensive Pytest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5825" y="4128194"/>
            <a:ext cx="28003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Full testing coverage across unit scoring logic, individual check isolation, route error handlers, and edge cases to guarantee stability.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725" y="2566094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67725" y="3366194"/>
            <a:ext cx="294036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0F6FC"/>
                </a:solidFill>
                <a:latin typeface="Urbanist SemiBold"/>
              </a:rPr>
              <a:t>TTL Caching &amp; 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4128194"/>
            <a:ext cx="28003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Urbanist"/>
              </a:rPr>
              <a:t>Token-bucket middleware protecting endpoints from abuse, combined with 5-minute scan TTL caching to reduce redundant network load.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987" y="2718494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8225" y="2718494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0125" y="2718494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0F6FC"/>
                </a:solidFill>
                <a:latin typeface="Urbanist SemiBold"/>
              </a:rPr>
              <a:t>Scalability &amp; </a:t>
            </a:r>
            <a:r>
              <a:rPr sz="3600" b="0" i="0" u="none">
                <a:solidFill>
                  <a:srgbClr val="58A6FF"/>
                </a:solidFill>
                <a:latin typeface="Urbanist SemiBold"/>
              </a:rPr>
              <a:t>Production Readiness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9725"/>
            <a:ext cx="11029950" cy="4572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1619250"/>
          <a:ext cx="11010899" cy="4552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421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58A6FF"/>
                          </a:solidFill>
                          <a:latin typeface="Urbanist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58A6FF"/>
                          </a:solidFill>
                          <a:latin typeface="Urbanist"/>
                        </a:rPr>
                        <a:t>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58A6FF"/>
                          </a:solidFill>
                          <a:latin typeface="Urbanist"/>
                        </a:rPr>
                        <a:t>Highlights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42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Technical Achievement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FB950"/>
                          </a:solidFill>
                          <a:latin typeface="Urbanist"/>
                        </a:rPr>
                        <a:t>12 / 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Async fan-out, process semaphore, raw TLS cryptography parsing, crt.sh CT integration.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42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Implementation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FB950"/>
                          </a:solidFill>
                          <a:latin typeface="Urbanist"/>
                        </a:rPr>
                        <a:t>12 / 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Clean FastAPI structure, modular check architecture, 4 comprehensive doc manuals.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42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User Experience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FB950"/>
                          </a:solidFill>
                          <a:latin typeface="Urbanist"/>
                        </a:rPr>
                        <a:t>12 / 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Interactive loading states, spoken ElevenLabs audio, WCAG AA accessibility, mobile layout.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42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Project Completion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FB950"/>
                          </a:solidFill>
                          <a:latin typeface="Urbanist"/>
                        </a:rPr>
                        <a:t>12 / 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100% test coverage, Docker ready, live 404/500 error pages, zero unhandled exceptions.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42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Video Evaluation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FB950"/>
                          </a:solidFill>
                          <a:latin typeface="Urbanist"/>
                        </a:rPr>
                        <a:t>6 / 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9D1D9"/>
                          </a:solidFill>
                          <a:latin typeface="Urbanist"/>
                        </a:rPr>
                        <a:t>2-5 min scripted video covering Problem Statement, Demo, and Tech Architecture.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424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9D1D9"/>
                          </a:solidFill>
                          <a:latin typeface="Urbanist"/>
                        </a:rPr>
                        <a:t>Total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B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FB950"/>
                          </a:solidFill>
                          <a:latin typeface="Urbanist"/>
                        </a:rPr>
                        <a:t>54 / 54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B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9D1D9"/>
                          </a:solidFill>
                          <a:latin typeface="Urbanist"/>
                        </a:rPr>
                        <a:t>Aim High — Complete &amp; Production-Ready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B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290762"/>
            <a:ext cx="2341364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31914" y="2290762"/>
            <a:ext cx="132546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57377" y="2290762"/>
            <a:ext cx="734407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0550" y="2928937"/>
            <a:ext cx="2341364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31914" y="2928937"/>
            <a:ext cx="132546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7377" y="2928937"/>
            <a:ext cx="734407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550" y="3567112"/>
            <a:ext cx="2341364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31914" y="3567112"/>
            <a:ext cx="132546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7377" y="3567112"/>
            <a:ext cx="734407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0550" y="4205287"/>
            <a:ext cx="2341364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31914" y="4205287"/>
            <a:ext cx="132546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7377" y="4205287"/>
            <a:ext cx="734407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4843462"/>
            <a:ext cx="2341364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31914" y="4843462"/>
            <a:ext cx="132546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7377" y="4843462"/>
            <a:ext cx="734407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0550" y="5481637"/>
            <a:ext cx="2341364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31914" y="5481637"/>
            <a:ext cx="132546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7377" y="5481637"/>
            <a:ext cx="734407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0F6FC"/>
                </a:solidFill>
                <a:latin typeface="Urbanist SemiBold"/>
              </a:rPr>
              <a:t>Hackathon Rubric Alignment </a:t>
            </a:r>
            <a:r>
              <a:rPr sz="3600" b="0" i="0" u="none">
                <a:solidFill>
                  <a:srgbClr val="3FB950"/>
                </a:solidFill>
                <a:latin typeface="Urbanist SemiBold"/>
              </a:rPr>
              <a:t>(54/54 Max)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815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Urbanist</vt:lpstr>
      <vt:lpstr>Urbanist Medium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Jayden Maans</cp:lastModifiedBy>
  <cp:revision>2</cp:revision>
  <dcterms:created xsi:type="dcterms:W3CDTF">2013-01-27T09:14:16Z</dcterms:created>
  <dcterms:modified xsi:type="dcterms:W3CDTF">2026-07-29T19:27:43Z</dcterms:modified>
  <cp:category/>
</cp:coreProperties>
</file>